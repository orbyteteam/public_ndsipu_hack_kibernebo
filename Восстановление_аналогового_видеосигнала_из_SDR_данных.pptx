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8" r:id="rId2"/>
    <p:sldMasterId id="2147483670" r:id="rId3"/>
  </p:sldMasterIdLst>
  <p:notesMasterIdLst>
    <p:notesMasterId r:id="rId20"/>
  </p:notesMasterIdLst>
  <p:sldIdLst>
    <p:sldId id="262" r:id="rId4"/>
    <p:sldId id="273" r:id="rId5"/>
    <p:sldId id="274" r:id="rId6"/>
    <p:sldId id="275" r:id="rId7"/>
    <p:sldId id="276" r:id="rId8"/>
    <p:sldId id="261" r:id="rId9"/>
    <p:sldId id="263" r:id="rId10"/>
    <p:sldId id="264" r:id="rId11"/>
    <p:sldId id="265" r:id="rId12"/>
    <p:sldId id="258" r:id="rId13"/>
    <p:sldId id="270" r:id="rId14"/>
    <p:sldId id="266" r:id="rId15"/>
    <p:sldId id="269" r:id="rId16"/>
    <p:sldId id="267" r:id="rId17"/>
    <p:sldId id="268" r:id="rId18"/>
    <p:sldId id="277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3" autoAdjust="0"/>
    <p:restoredTop sz="94660"/>
  </p:normalViewPr>
  <p:slideViewPr>
    <p:cSldViewPr snapToGrid="0">
      <p:cViewPr varScale="1">
        <p:scale>
          <a:sx n="95" d="100"/>
          <a:sy n="95" d="100"/>
        </p:scale>
        <p:origin x="24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F2EF3-9937-4C60-9F2A-ED4DBE2B939E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409E3-F6E9-4330-AA77-059259013A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77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3C1226-071C-F54E-9AFB-D71CEE530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F3D3D73E-3070-D547-A8E4-656E5B9A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046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3C1226-071C-F54E-9AFB-D71CEE530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F3D3D73E-3070-D547-A8E4-656E5B9A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074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3C1226-071C-F54E-9AFB-D71CEE530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F3D3D73E-3070-D547-A8E4-656E5B9A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263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1461C-53A4-C943-B21F-B82D3E53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8" name="Нижний колонтитул 2">
            <a:extLst>
              <a:ext uri="{FF2B5EF4-FFF2-40B4-BE49-F238E27FC236}">
                <a16:creationId xmlns:a16="http://schemas.microsoft.com/office/drawing/2014/main" id="{23CA651D-6B29-DE48-B225-DF53D6B14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BC83C78-346F-1043-91D6-AAE2CBD50914}"/>
              </a:ext>
            </a:extLst>
          </p:cNvPr>
          <p:cNvGrpSpPr/>
          <p:nvPr userDrawn="1"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6323B1F2-748E-D24A-B04D-147E09F7A056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1B27122E-E66E-3842-BEE7-8F21E71CCFFA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2489CB35-5D1A-3449-A3AA-6331ECDE56D7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E46F3591-5DE8-684F-945B-4B104571763B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E72CDAF1-40E5-1146-8168-F54EFBC30D1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D7A57A1D-1763-3545-AF07-19470F3E50CB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56465A1-0921-EF43-AA4A-163FB7F2E5D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928A59CB-089A-4049-8D48-745F1CD70D00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BE3986F7-E050-214A-8AAE-9F64D46E6D25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5A77F4BA-FB36-E94D-A5E0-1E2C3DDEF2DD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CF75EAD3-670B-6741-BD93-7AC35A4C614F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99F4A77B-3030-4345-9E65-8E7A17D3C9AB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A4D584FB-B2D1-004D-8FAA-86088F98D1C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18491DE6-A85F-F941-9774-470B7A292E66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F0A37FBE-ED03-9E46-B887-2095E356522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B60AB2F-ECD7-B14B-914B-D1497215BE2D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11F86DEA-3BC0-2949-8D21-BC75BF487961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3AA5CCF0-AFE9-C845-8FB6-42C61118EB3B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2F4CBF35-215D-3141-AE0E-10FCB8EAA38B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27827FEF-580D-8D4A-AA52-FBB780D3E8CA}"/>
              </a:ext>
            </a:extLst>
          </p:cNvPr>
          <p:cNvGrpSpPr/>
          <p:nvPr userDrawn="1"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D5720CF8-777D-6D46-943B-8BFBBAC8AC37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A751E786-90FC-B84D-A121-52C549CABAD6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FB098482-3360-BC48-86E2-D82F0ECD18CB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1C8E324-B663-AE43-AD17-C30372AC1D62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982BEC6C-68DE-E945-89D7-E542C117AE5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3EF568AD-F1F9-804D-9F74-FF357FDDF8E2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23EA1C8B-0B4C-F54E-A19D-87D78B2BA79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176C27A-B0C3-E348-A8E9-CFF1EDD0691A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1E950337-5072-114C-BF31-761D28BD0077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89CC3246-9DE9-274E-A6C3-F1641B274260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D325B007-78F8-3C48-AFAE-566FB0FE44CB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B1C960B3-AB41-7C49-BF29-7BE107E51B2E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2C78BCE0-6204-0442-93CA-02D94FDF3F7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D1C06090-B6A7-F940-B829-33701FB43C9D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B0FFD9E0-54D7-5344-9001-BBEC5DAB786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01CA738E-8928-9640-A950-3958A54AF720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E24B7330-F8F4-7849-9AA8-726A43864042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61D65C45-3E19-9342-83DB-D61F067718E5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44C52D8E-9B70-CD44-869A-228C63BCF7A3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193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55588" indent="-255588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69875" algn="l" defTabSz="914400" rtl="0" eaLnBrk="1" latinLnBrk="0" hangingPunct="1">
        <a:lnSpc>
          <a:spcPct val="110000"/>
        </a:lnSpc>
        <a:spcBef>
          <a:spcPts val="500"/>
        </a:spcBef>
        <a:buFont typeface="Системный шрифт, обычный"/>
        <a:buChar char="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pos="415">
          <p15:clr>
            <a:srgbClr val="FDE53C"/>
          </p15:clr>
        </p15:guide>
        <p15:guide id="14" pos="7265">
          <p15:clr>
            <a:srgbClr val="FDE53C"/>
          </p15:clr>
        </p15:guide>
        <p15:guide id="16" orient="horz" pos="3906">
          <p15:clr>
            <a:srgbClr val="FDE53C"/>
          </p15:clr>
        </p15:guide>
        <p15:guide id="17" pos="5110">
          <p15:clr>
            <a:srgbClr val="FDE53C"/>
          </p15:clr>
        </p15:guide>
        <p15:guide id="18" pos="2547">
          <p15:clr>
            <a:srgbClr val="FDE53C"/>
          </p15:clr>
        </p15:guide>
        <p15:guide id="19" pos="3840">
          <p15:clr>
            <a:srgbClr val="FDE53C"/>
          </p15:clr>
        </p15:guide>
        <p15:guide id="22" orient="horz" pos="436">
          <p15:clr>
            <a:srgbClr val="FDE53C"/>
          </p15:clr>
        </p15:guide>
        <p15:guide id="23" orient="horz" pos="1117">
          <p15:clr>
            <a:srgbClr val="FDE53C"/>
          </p15:clr>
        </p15:guide>
        <p15:guide id="24" pos="2116">
          <p15:clr>
            <a:srgbClr val="FDE53C"/>
          </p15:clr>
        </p15:guide>
        <p15:guide id="25" pos="5541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1461C-53A4-C943-B21F-B82D3E53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8" name="Нижний колонтитул 2">
            <a:extLst>
              <a:ext uri="{FF2B5EF4-FFF2-40B4-BE49-F238E27FC236}">
                <a16:creationId xmlns:a16="http://schemas.microsoft.com/office/drawing/2014/main" id="{23CA651D-6B29-DE48-B225-DF53D6B14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BC83C78-346F-1043-91D6-AAE2CBD50914}"/>
              </a:ext>
            </a:extLst>
          </p:cNvPr>
          <p:cNvGrpSpPr/>
          <p:nvPr userDrawn="1"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6323B1F2-748E-D24A-B04D-147E09F7A056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1B27122E-E66E-3842-BEE7-8F21E71CCFFA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2489CB35-5D1A-3449-A3AA-6331ECDE56D7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E46F3591-5DE8-684F-945B-4B104571763B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E72CDAF1-40E5-1146-8168-F54EFBC30D1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D7A57A1D-1763-3545-AF07-19470F3E50CB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56465A1-0921-EF43-AA4A-163FB7F2E5D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928A59CB-089A-4049-8D48-745F1CD70D00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BE3986F7-E050-214A-8AAE-9F64D46E6D25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5A77F4BA-FB36-E94D-A5E0-1E2C3DDEF2DD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CF75EAD3-670B-6741-BD93-7AC35A4C614F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99F4A77B-3030-4345-9E65-8E7A17D3C9AB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A4D584FB-B2D1-004D-8FAA-86088F98D1C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18491DE6-A85F-F941-9774-470B7A292E66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F0A37FBE-ED03-9E46-B887-2095E356522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B60AB2F-ECD7-B14B-914B-D1497215BE2D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11F86DEA-3BC0-2949-8D21-BC75BF487961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3AA5CCF0-AFE9-C845-8FB6-42C61118EB3B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2F4CBF35-215D-3141-AE0E-10FCB8EAA38B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27827FEF-580D-8D4A-AA52-FBB780D3E8CA}"/>
              </a:ext>
            </a:extLst>
          </p:cNvPr>
          <p:cNvGrpSpPr/>
          <p:nvPr userDrawn="1"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D5720CF8-777D-6D46-943B-8BFBBAC8AC37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A751E786-90FC-B84D-A121-52C549CABAD6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FB098482-3360-BC48-86E2-D82F0ECD18CB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1C8E324-B663-AE43-AD17-C30372AC1D62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982BEC6C-68DE-E945-89D7-E542C117AE5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3EF568AD-F1F9-804D-9F74-FF357FDDF8E2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23EA1C8B-0B4C-F54E-A19D-87D78B2BA79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176C27A-B0C3-E348-A8E9-CFF1EDD0691A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1E950337-5072-114C-BF31-761D28BD0077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89CC3246-9DE9-274E-A6C3-F1641B274260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D325B007-78F8-3C48-AFAE-566FB0FE44CB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B1C960B3-AB41-7C49-BF29-7BE107E51B2E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2C78BCE0-6204-0442-93CA-02D94FDF3F7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D1C06090-B6A7-F940-B829-33701FB43C9D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B0FFD9E0-54D7-5344-9001-BBEC5DAB786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01CA738E-8928-9640-A950-3958A54AF720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E24B7330-F8F4-7849-9AA8-726A43864042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61D65C45-3E19-9342-83DB-D61F067718E5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44C52D8E-9B70-CD44-869A-228C63BCF7A3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613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55588" indent="-255588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69875" algn="l" defTabSz="914400" rtl="0" eaLnBrk="1" latinLnBrk="0" hangingPunct="1">
        <a:lnSpc>
          <a:spcPct val="110000"/>
        </a:lnSpc>
        <a:spcBef>
          <a:spcPts val="500"/>
        </a:spcBef>
        <a:buFont typeface="Системный шрифт, обычный"/>
        <a:buChar char="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pos="415">
          <p15:clr>
            <a:srgbClr val="FDE53C"/>
          </p15:clr>
        </p15:guide>
        <p15:guide id="14" pos="7265">
          <p15:clr>
            <a:srgbClr val="FDE53C"/>
          </p15:clr>
        </p15:guide>
        <p15:guide id="16" orient="horz" pos="3906">
          <p15:clr>
            <a:srgbClr val="FDE53C"/>
          </p15:clr>
        </p15:guide>
        <p15:guide id="17" pos="5110">
          <p15:clr>
            <a:srgbClr val="FDE53C"/>
          </p15:clr>
        </p15:guide>
        <p15:guide id="18" pos="2547">
          <p15:clr>
            <a:srgbClr val="FDE53C"/>
          </p15:clr>
        </p15:guide>
        <p15:guide id="19" pos="3840">
          <p15:clr>
            <a:srgbClr val="FDE53C"/>
          </p15:clr>
        </p15:guide>
        <p15:guide id="22" orient="horz" pos="436">
          <p15:clr>
            <a:srgbClr val="FDE53C"/>
          </p15:clr>
        </p15:guide>
        <p15:guide id="23" orient="horz" pos="1117">
          <p15:clr>
            <a:srgbClr val="FDE53C"/>
          </p15:clr>
        </p15:guide>
        <p15:guide id="24" pos="2116">
          <p15:clr>
            <a:srgbClr val="FDE53C"/>
          </p15:clr>
        </p15:guide>
        <p15:guide id="25" pos="5541">
          <p15:clr>
            <a:srgbClr val="FDE53C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1461C-53A4-C943-B21F-B82D3E53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8" name="Нижний колонтитул 2">
            <a:extLst>
              <a:ext uri="{FF2B5EF4-FFF2-40B4-BE49-F238E27FC236}">
                <a16:creationId xmlns:a16="http://schemas.microsoft.com/office/drawing/2014/main" id="{23CA651D-6B29-DE48-B225-DF53D6B14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BC83C78-346F-1043-91D6-AAE2CBD50914}"/>
              </a:ext>
            </a:extLst>
          </p:cNvPr>
          <p:cNvGrpSpPr/>
          <p:nvPr userDrawn="1"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6323B1F2-748E-D24A-B04D-147E09F7A056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1B27122E-E66E-3842-BEE7-8F21E71CCFFA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2489CB35-5D1A-3449-A3AA-6331ECDE56D7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E46F3591-5DE8-684F-945B-4B104571763B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E72CDAF1-40E5-1146-8168-F54EFBC30D1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D7A57A1D-1763-3545-AF07-19470F3E50CB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56465A1-0921-EF43-AA4A-163FB7F2E5D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928A59CB-089A-4049-8D48-745F1CD70D00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BE3986F7-E050-214A-8AAE-9F64D46E6D25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5A77F4BA-FB36-E94D-A5E0-1E2C3DDEF2DD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CF75EAD3-670B-6741-BD93-7AC35A4C614F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99F4A77B-3030-4345-9E65-8E7A17D3C9AB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A4D584FB-B2D1-004D-8FAA-86088F98D1C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18491DE6-A85F-F941-9774-470B7A292E66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F0A37FBE-ED03-9E46-B887-2095E356522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B60AB2F-ECD7-B14B-914B-D1497215BE2D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11F86DEA-3BC0-2949-8D21-BC75BF487961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3AA5CCF0-AFE9-C845-8FB6-42C61118EB3B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2F4CBF35-215D-3141-AE0E-10FCB8EAA38B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27827FEF-580D-8D4A-AA52-FBB780D3E8CA}"/>
              </a:ext>
            </a:extLst>
          </p:cNvPr>
          <p:cNvGrpSpPr/>
          <p:nvPr userDrawn="1"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D5720CF8-777D-6D46-943B-8BFBBAC8AC37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A751E786-90FC-B84D-A121-52C549CABAD6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FB098482-3360-BC48-86E2-D82F0ECD18CB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1C8E324-B663-AE43-AD17-C30372AC1D62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982BEC6C-68DE-E945-89D7-E542C117AE5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3EF568AD-F1F9-804D-9F74-FF357FDDF8E2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23EA1C8B-0B4C-F54E-A19D-87D78B2BA79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176C27A-B0C3-E348-A8E9-CFF1EDD0691A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1E950337-5072-114C-BF31-761D28BD0077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89CC3246-9DE9-274E-A6C3-F1641B274260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D325B007-78F8-3C48-AFAE-566FB0FE44CB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B1C960B3-AB41-7C49-BF29-7BE107E51B2E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2C78BCE0-6204-0442-93CA-02D94FDF3F7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D1C06090-B6A7-F940-B829-33701FB43C9D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B0FFD9E0-54D7-5344-9001-BBEC5DAB786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01CA738E-8928-9640-A950-3958A54AF720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E24B7330-F8F4-7849-9AA8-726A43864042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61D65C45-3E19-9342-83DB-D61F067718E5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44C52D8E-9B70-CD44-869A-228C63BCF7A3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988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55588" indent="-255588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69875" algn="l" defTabSz="914400" rtl="0" eaLnBrk="1" latinLnBrk="0" hangingPunct="1">
        <a:lnSpc>
          <a:spcPct val="110000"/>
        </a:lnSpc>
        <a:spcBef>
          <a:spcPts val="500"/>
        </a:spcBef>
        <a:buFont typeface="Системный шрифт, обычный"/>
        <a:buChar char="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pos="415">
          <p15:clr>
            <a:srgbClr val="FDE53C"/>
          </p15:clr>
        </p15:guide>
        <p15:guide id="14" pos="7265">
          <p15:clr>
            <a:srgbClr val="FDE53C"/>
          </p15:clr>
        </p15:guide>
        <p15:guide id="16" orient="horz" pos="3906">
          <p15:clr>
            <a:srgbClr val="FDE53C"/>
          </p15:clr>
        </p15:guide>
        <p15:guide id="17" pos="5110">
          <p15:clr>
            <a:srgbClr val="FDE53C"/>
          </p15:clr>
        </p15:guide>
        <p15:guide id="18" pos="2547">
          <p15:clr>
            <a:srgbClr val="FDE53C"/>
          </p15:clr>
        </p15:guide>
        <p15:guide id="19" pos="3840">
          <p15:clr>
            <a:srgbClr val="FDE53C"/>
          </p15:clr>
        </p15:guide>
        <p15:guide id="22" orient="horz" pos="436">
          <p15:clr>
            <a:srgbClr val="FDE53C"/>
          </p15:clr>
        </p15:guide>
        <p15:guide id="23" orient="horz" pos="1117">
          <p15:clr>
            <a:srgbClr val="FDE53C"/>
          </p15:clr>
        </p15:guide>
        <p15:guide id="24" pos="2116">
          <p15:clr>
            <a:srgbClr val="FDE53C"/>
          </p15:clr>
        </p15:guide>
        <p15:guide id="25" pos="554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289ECA2-BD63-5642-8EE1-B6A495F52111}"/>
              </a:ext>
            </a:extLst>
          </p:cNvPr>
          <p:cNvCxnSpPr>
            <a:cxnSpLocks/>
          </p:cNvCxnSpPr>
          <p:nvPr/>
        </p:nvCxnSpPr>
        <p:spPr>
          <a:xfrm flipH="1">
            <a:off x="658813" y="3026815"/>
            <a:ext cx="1153318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19465"/>
            <a:ext cx="10855854" cy="644241"/>
          </a:xfrm>
        </p:spPr>
        <p:txBody>
          <a:bodyPr/>
          <a:lstStyle/>
          <a:p>
            <a:r>
              <a:rPr lang="ru-RU" sz="5400" dirty="0"/>
              <a:t>Восстановление аналогового видеосигнала из SDR-данных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5771" y="3614058"/>
            <a:ext cx="914400" cy="9144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endParaRPr lang="ru-RU" dirty="0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 txBox="1">
            <a:spLocks/>
          </p:cNvSpPr>
          <p:nvPr/>
        </p:nvSpPr>
        <p:spPr>
          <a:xfrm>
            <a:off x="840619" y="3567804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/>
              <a:t>Детекция</a:t>
            </a:r>
            <a:r>
              <a:rPr lang="ru-RU" sz="3200" dirty="0"/>
              <a:t> синхроимпульсов и разметка видеопотока</a:t>
            </a:r>
          </a:p>
        </p:txBody>
      </p:sp>
    </p:spTree>
    <p:extLst>
      <p:ext uri="{BB962C8B-B14F-4D97-AF65-F5344CB8AC3E}">
        <p14:creationId xmlns:p14="http://schemas.microsoft.com/office/powerpoint/2010/main" val="410598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855A9-C8A6-AA6E-1F23-C98F5BB5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4D990C-E5B0-5AFC-CAB7-F37A3E524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487" y="2483613"/>
            <a:ext cx="8762616" cy="1890774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2DB4247-D7E4-FBEA-27A0-123C740E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en-US" dirty="0"/>
              <a:t>FM-</a:t>
            </a:r>
            <a:r>
              <a:rPr lang="ru-RU" dirty="0"/>
              <a:t>демодуляция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5633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2200-FC10-307F-DEF6-09D80E9F0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9AD212-5D09-330A-B274-7F8ED4B05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22" y="713873"/>
            <a:ext cx="11713956" cy="488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3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CE23-40EC-72B8-AD9E-E655FB2A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B049D4-B02E-E4C6-01C8-CB4A23FB8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142995"/>
            <a:ext cx="10972822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8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887A9-E159-1446-4348-1FB3F174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6A60E2-74EB-D651-43D5-BD27580DF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142995"/>
            <a:ext cx="10972822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6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en-US" dirty="0"/>
              <a:t>Dc-filter</a:t>
            </a:r>
            <a:endParaRPr lang="en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687"/>
          <a:stretch/>
        </p:blipFill>
        <p:spPr>
          <a:xfrm>
            <a:off x="81280" y="1899375"/>
            <a:ext cx="6246808" cy="258730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745"/>
          <a:stretch/>
        </p:blipFill>
        <p:spPr>
          <a:xfrm>
            <a:off x="6105261" y="1991031"/>
            <a:ext cx="5985139" cy="249564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69A74-B5CF-86B4-7773-0EEEF8626F14}"/>
              </a:ext>
            </a:extLst>
          </p:cNvPr>
          <p:cNvSpPr/>
          <p:nvPr/>
        </p:nvSpPr>
        <p:spPr>
          <a:xfrm>
            <a:off x="769453" y="5141317"/>
            <a:ext cx="10855853" cy="1057190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" name="Google Shape;481;p51">
            <a:extLst>
              <a:ext uri="{FF2B5EF4-FFF2-40B4-BE49-F238E27FC236}">
                <a16:creationId xmlns:a16="http://schemas.microsoft.com/office/drawing/2014/main" id="{BA48BA7E-AD3F-3A5B-522F-BBE15EF94F93}"/>
              </a:ext>
            </a:extLst>
          </p:cNvPr>
          <p:cNvSpPr txBox="1"/>
          <p:nvPr/>
        </p:nvSpPr>
        <p:spPr>
          <a:xfrm>
            <a:off x="1370264" y="5362150"/>
            <a:ext cx="965423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dirty="0"/>
              <a:t>Из сигнала вычитается среднее значение, чтобы убрать постоянную составляющую и центрировать уровень относительно нуля.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291" y="368778"/>
            <a:ext cx="4640764" cy="130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8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en" dirty="0"/>
              <a:t>Notch filter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914" r="1463"/>
          <a:stretch/>
        </p:blipFill>
        <p:spPr>
          <a:xfrm>
            <a:off x="200705" y="2184400"/>
            <a:ext cx="5570175" cy="232304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1277"/>
          <a:stretch/>
        </p:blipFill>
        <p:spPr>
          <a:xfrm>
            <a:off x="6177279" y="2162988"/>
            <a:ext cx="5565405" cy="234445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C569A74-B5CF-86B4-7773-0EEEF8626F14}"/>
              </a:ext>
            </a:extLst>
          </p:cNvPr>
          <p:cNvSpPr/>
          <p:nvPr/>
        </p:nvSpPr>
        <p:spPr>
          <a:xfrm>
            <a:off x="769453" y="5141317"/>
            <a:ext cx="10855853" cy="1057190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" name="Google Shape;481;p51">
            <a:extLst>
              <a:ext uri="{FF2B5EF4-FFF2-40B4-BE49-F238E27FC236}">
                <a16:creationId xmlns:a16="http://schemas.microsoft.com/office/drawing/2014/main" id="{BA48BA7E-AD3F-3A5B-522F-BBE15EF94F93}"/>
              </a:ext>
            </a:extLst>
          </p:cNvPr>
          <p:cNvSpPr txBox="1"/>
          <p:nvPr/>
        </p:nvSpPr>
        <p:spPr>
          <a:xfrm>
            <a:off x="1154685" y="5300595"/>
            <a:ext cx="1008538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dirty="0"/>
              <a:t>Цель этого шага - ослабить цветной-компонент (4.43) и оставить в основном яркостную составляющую, чтобы картинка была стабильнее и чище при последующей разметке строк.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3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en" dirty="0"/>
              <a:t>Low-pass filter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0036"/>
            <a:ext cx="6049106" cy="248968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787" r="-1"/>
          <a:stretch/>
        </p:blipFill>
        <p:spPr>
          <a:xfrm>
            <a:off x="6049106" y="2019426"/>
            <a:ext cx="5908430" cy="249029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C569A74-B5CF-86B4-7773-0EEEF8626F14}"/>
              </a:ext>
            </a:extLst>
          </p:cNvPr>
          <p:cNvSpPr/>
          <p:nvPr/>
        </p:nvSpPr>
        <p:spPr>
          <a:xfrm>
            <a:off x="769453" y="5141317"/>
            <a:ext cx="10855853" cy="1057190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" name="Google Shape;481;p51">
            <a:extLst>
              <a:ext uri="{FF2B5EF4-FFF2-40B4-BE49-F238E27FC236}">
                <a16:creationId xmlns:a16="http://schemas.microsoft.com/office/drawing/2014/main" id="{BA48BA7E-AD3F-3A5B-522F-BBE15EF94F93}"/>
              </a:ext>
            </a:extLst>
          </p:cNvPr>
          <p:cNvSpPr txBox="1"/>
          <p:nvPr/>
        </p:nvSpPr>
        <p:spPr>
          <a:xfrm>
            <a:off x="1166914" y="5331373"/>
            <a:ext cx="987669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sz="1600" dirty="0"/>
              <a:t>После подавления цветовой </a:t>
            </a:r>
            <a:r>
              <a:rPr lang="ru-RU" sz="1600" dirty="0" err="1"/>
              <a:t>поднесущей</a:t>
            </a:r>
            <a:r>
              <a:rPr lang="ru-RU" sz="1600" dirty="0"/>
              <a:t> применяется </a:t>
            </a:r>
            <a:r>
              <a:rPr lang="ru-RU" sz="1600" dirty="0" err="1"/>
              <a:t>low-pass</a:t>
            </a:r>
            <a:r>
              <a:rPr lang="ru-RU" sz="1600" dirty="0"/>
              <a:t> фильтр, который убирает остаточные высокочастотные шумы и артефакты FM-демодуляции, сохраняя основную яркостную информацию.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6186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en" dirty="0"/>
              <a:t>Low-pass filter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543" y="1336391"/>
            <a:ext cx="9021434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11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en-US" dirty="0"/>
              <a:t>DC filter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453" y="1336391"/>
            <a:ext cx="9007962" cy="377077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C569A74-B5CF-86B4-7773-0EEEF8626F14}"/>
              </a:ext>
            </a:extLst>
          </p:cNvPr>
          <p:cNvSpPr/>
          <p:nvPr/>
        </p:nvSpPr>
        <p:spPr>
          <a:xfrm>
            <a:off x="677335" y="5422671"/>
            <a:ext cx="10855853" cy="1057190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" name="Google Shape;481;p51">
            <a:extLst>
              <a:ext uri="{FF2B5EF4-FFF2-40B4-BE49-F238E27FC236}">
                <a16:creationId xmlns:a16="http://schemas.microsoft.com/office/drawing/2014/main" id="{BA48BA7E-AD3F-3A5B-522F-BBE15EF94F93}"/>
              </a:ext>
            </a:extLst>
          </p:cNvPr>
          <p:cNvSpPr txBox="1"/>
          <p:nvPr/>
        </p:nvSpPr>
        <p:spPr>
          <a:xfrm>
            <a:off x="1051560" y="5581949"/>
            <a:ext cx="986028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dirty="0"/>
              <a:t>После фильтрации базовый уровень может немного смещаться, поэтому DC-компонента удаляется повторно.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959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en-US" dirty="0"/>
              <a:t>DC filter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8302"/>
            <a:ext cx="6150718" cy="252004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216" y="2009282"/>
            <a:ext cx="6189784" cy="2539062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569A74-B5CF-86B4-7773-0EEEF8626F14}"/>
              </a:ext>
            </a:extLst>
          </p:cNvPr>
          <p:cNvSpPr/>
          <p:nvPr/>
        </p:nvSpPr>
        <p:spPr>
          <a:xfrm>
            <a:off x="769453" y="5141317"/>
            <a:ext cx="10855853" cy="1057190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Google Shape;481;p51">
            <a:extLst>
              <a:ext uri="{FF2B5EF4-FFF2-40B4-BE49-F238E27FC236}">
                <a16:creationId xmlns:a16="http://schemas.microsoft.com/office/drawing/2014/main" id="{BA48BA7E-AD3F-3A5B-522F-BBE15EF94F93}"/>
              </a:ext>
            </a:extLst>
          </p:cNvPr>
          <p:cNvSpPr txBox="1"/>
          <p:nvPr/>
        </p:nvSpPr>
        <p:spPr>
          <a:xfrm>
            <a:off x="1150452" y="5300595"/>
            <a:ext cx="976138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dirty="0"/>
              <a:t>После фильтрации базовый уровень может немного смещаться, поэтому DC-компонента удаляется повторно.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211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ru-RU" dirty="0"/>
              <a:t>Нормализация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72" y="1576129"/>
            <a:ext cx="8992855" cy="37057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569A74-B5CF-86B4-7773-0EEEF8626F14}"/>
              </a:ext>
            </a:extLst>
          </p:cNvPr>
          <p:cNvSpPr/>
          <p:nvPr/>
        </p:nvSpPr>
        <p:spPr>
          <a:xfrm>
            <a:off x="677335" y="5385414"/>
            <a:ext cx="10855853" cy="1057190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" name="Google Shape;481;p51">
            <a:extLst>
              <a:ext uri="{FF2B5EF4-FFF2-40B4-BE49-F238E27FC236}">
                <a16:creationId xmlns:a16="http://schemas.microsoft.com/office/drawing/2014/main" id="{BA48BA7E-AD3F-3A5B-522F-BBE15EF94F93}"/>
              </a:ext>
            </a:extLst>
          </p:cNvPr>
          <p:cNvSpPr txBox="1"/>
          <p:nvPr/>
        </p:nvSpPr>
        <p:spPr>
          <a:xfrm>
            <a:off x="1190502" y="5521609"/>
            <a:ext cx="940192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dirty="0"/>
              <a:t>Сигнал приводится к единой шкале уровней: </a:t>
            </a:r>
            <a:r>
              <a:rPr lang="ru-RU" dirty="0" err="1"/>
              <a:t>sync</a:t>
            </a:r>
            <a:r>
              <a:rPr lang="ru-RU" dirty="0"/>
              <a:t> </a:t>
            </a:r>
            <a:r>
              <a:rPr lang="ru-RU" dirty="0" err="1"/>
              <a:t>tip</a:t>
            </a:r>
            <a:r>
              <a:rPr lang="ru-RU" dirty="0"/>
              <a:t>, </a:t>
            </a:r>
            <a:r>
              <a:rPr lang="ru-RU" dirty="0" err="1"/>
              <a:t>blanking</a:t>
            </a:r>
            <a:r>
              <a:rPr lang="ru-RU" dirty="0"/>
              <a:t> </a:t>
            </a:r>
            <a:r>
              <a:rPr lang="ru-RU" dirty="0" err="1"/>
              <a:t>level</a:t>
            </a:r>
            <a:r>
              <a:rPr lang="ru-RU" dirty="0"/>
              <a:t> и активная </a:t>
            </a:r>
            <a:r>
              <a:rPr lang="ru-RU" dirty="0" err="1"/>
              <a:t>видеочасть</a:t>
            </a:r>
            <a:r>
              <a:rPr lang="ru-RU" dirty="0"/>
              <a:t> становятся сопоставимыми по амплитуде на всём фрагменте записи.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5433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ru-RU" dirty="0"/>
              <a:t>Нормализация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50" y="2324384"/>
            <a:ext cx="5612350" cy="234991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242004"/>
            <a:ext cx="5890992" cy="243229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569A74-B5CF-86B4-7773-0EEEF8626F14}"/>
              </a:ext>
            </a:extLst>
          </p:cNvPr>
          <p:cNvSpPr/>
          <p:nvPr/>
        </p:nvSpPr>
        <p:spPr>
          <a:xfrm>
            <a:off x="769453" y="5141317"/>
            <a:ext cx="10855853" cy="1057190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" name="Google Shape;481;p51">
            <a:extLst>
              <a:ext uri="{FF2B5EF4-FFF2-40B4-BE49-F238E27FC236}">
                <a16:creationId xmlns:a16="http://schemas.microsoft.com/office/drawing/2014/main" id="{BA48BA7E-AD3F-3A5B-522F-BBE15EF94F93}"/>
              </a:ext>
            </a:extLst>
          </p:cNvPr>
          <p:cNvSpPr txBox="1"/>
          <p:nvPr/>
        </p:nvSpPr>
        <p:spPr>
          <a:xfrm>
            <a:off x="1094793" y="5300595"/>
            <a:ext cx="1024376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dirty="0"/>
              <a:t>После нормализации HSYNC становятся отчётливо отделимы по амплитуде от видеоданных.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819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en-US" dirty="0" err="1"/>
              <a:t>Hsync</a:t>
            </a:r>
            <a:r>
              <a:rPr lang="en-US" dirty="0"/>
              <a:t> detect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56" y="1333207"/>
            <a:ext cx="9040487" cy="4191585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569A74-B5CF-86B4-7773-0EEEF8626F14}"/>
              </a:ext>
            </a:extLst>
          </p:cNvPr>
          <p:cNvSpPr/>
          <p:nvPr/>
        </p:nvSpPr>
        <p:spPr>
          <a:xfrm>
            <a:off x="677335" y="5524792"/>
            <a:ext cx="10855853" cy="1057190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" name="Google Shape;481;p51">
            <a:extLst>
              <a:ext uri="{FF2B5EF4-FFF2-40B4-BE49-F238E27FC236}">
                <a16:creationId xmlns:a16="http://schemas.microsoft.com/office/drawing/2014/main" id="{BA48BA7E-AD3F-3A5B-522F-BBE15EF94F93}"/>
              </a:ext>
            </a:extLst>
          </p:cNvPr>
          <p:cNvSpPr txBox="1"/>
          <p:nvPr/>
        </p:nvSpPr>
        <p:spPr>
          <a:xfrm>
            <a:off x="1341696" y="5684070"/>
            <a:ext cx="950860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dirty="0"/>
              <a:t>HSYNC определяется простым пороговым правилом: точки, где сигнал опускается ниже порога синхронизации, считаются кандидатами на начало строки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720" y="95387"/>
            <a:ext cx="2680845" cy="119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1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FF901-6F72-144B-A5BC-DD8A45D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/>
          <a:lstStyle/>
          <a:p>
            <a:r>
              <a:rPr lang="ru-RU" dirty="0"/>
              <a:t>Попытка декодирования сигнала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046" y="1460879"/>
            <a:ext cx="5298830" cy="422572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569A74-B5CF-86B4-7773-0EEEF8626F14}"/>
              </a:ext>
            </a:extLst>
          </p:cNvPr>
          <p:cNvSpPr/>
          <p:nvPr/>
        </p:nvSpPr>
        <p:spPr>
          <a:xfrm>
            <a:off x="396239" y="1351096"/>
            <a:ext cx="5684521" cy="4744903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C48747E-569D-8A4E-AF9B-2D54F345299A}"/>
              </a:ext>
            </a:extLst>
          </p:cNvPr>
          <p:cNvGrpSpPr/>
          <p:nvPr/>
        </p:nvGrpSpPr>
        <p:grpSpPr>
          <a:xfrm>
            <a:off x="520431" y="1460880"/>
            <a:ext cx="5391150" cy="4503404"/>
            <a:chOff x="6927895" y="1715013"/>
            <a:chExt cx="5278526" cy="4059719"/>
          </a:xfrm>
          <a:solidFill>
            <a:schemeClr val="bg1"/>
          </a:solidFill>
        </p:grpSpPr>
        <p:sp>
          <p:nvSpPr>
            <p:cNvPr id="8" name="Скругленный прямоугольник 7">
              <a:extLst>
                <a:ext uri="{FF2B5EF4-FFF2-40B4-BE49-F238E27FC236}">
                  <a16:creationId xmlns:a16="http://schemas.microsoft.com/office/drawing/2014/main" id="{D00949C2-91C0-7945-AB05-F236FE6F6811}"/>
                </a:ext>
              </a:extLst>
            </p:cNvPr>
            <p:cNvSpPr/>
            <p:nvPr/>
          </p:nvSpPr>
          <p:spPr>
            <a:xfrm>
              <a:off x="6927895" y="1715013"/>
              <a:ext cx="5278526" cy="2273712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dirty="0">
                  <a:solidFill>
                    <a:schemeClr val="tx1"/>
                  </a:solidFill>
                </a:rPr>
                <a:t>HSYNC распознается нормально.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VSYNC </a:t>
              </a:r>
              <a:r>
                <a:rPr lang="ru-RU" sz="1600" dirty="0">
                  <a:solidFill>
                    <a:schemeClr val="tx1"/>
                  </a:solidFill>
                </a:rPr>
                <a:t>был проигнорирован и все кадры просто склеиваются в одно горизонтальное полотно.</a:t>
              </a: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665B233B-2D7A-7847-BD9E-24CAB175B5FA}"/>
                </a:ext>
              </a:extLst>
            </p:cNvPr>
            <p:cNvSpPr/>
            <p:nvPr/>
          </p:nvSpPr>
          <p:spPr>
            <a:xfrm>
              <a:off x="6927895" y="4107463"/>
              <a:ext cx="5278526" cy="1667269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ru-RU" dirty="0">
                  <a:solidFill>
                    <a:srgbClr val="000000"/>
                  </a:solidFill>
                </a:rPr>
                <a:t>Параметры фильтров подбирались через интерактивное окно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4458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6107-F9F9-2A88-6C2E-48C9FC4E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ABF920F-22FE-721F-5C4B-46D849BD51C1}"/>
              </a:ext>
            </a:extLst>
          </p:cNvPr>
          <p:cNvCxnSpPr>
            <a:cxnSpLocks/>
          </p:cNvCxnSpPr>
          <p:nvPr/>
        </p:nvCxnSpPr>
        <p:spPr>
          <a:xfrm flipH="1">
            <a:off x="658813" y="3026815"/>
            <a:ext cx="1153318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6F679-5A4A-C0FA-395C-7D19BA49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19465"/>
            <a:ext cx="10855854" cy="644241"/>
          </a:xfrm>
        </p:spPr>
        <p:txBody>
          <a:bodyPr/>
          <a:lstStyle/>
          <a:p>
            <a:r>
              <a:rPr lang="ru-RU" sz="5400" dirty="0"/>
              <a:t>Восстановление аналогового видеосигнала из SDR-данных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067CF-0E74-CE44-12EF-315561C15D5A}"/>
              </a:ext>
            </a:extLst>
          </p:cNvPr>
          <p:cNvSpPr txBox="1"/>
          <p:nvPr/>
        </p:nvSpPr>
        <p:spPr>
          <a:xfrm>
            <a:off x="1545771" y="3614058"/>
            <a:ext cx="914400" cy="9144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endParaRPr lang="ru-RU" dirty="0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C28884FE-AA39-3F5E-2441-540BF82B52A3}"/>
              </a:ext>
            </a:extLst>
          </p:cNvPr>
          <p:cNvSpPr txBox="1">
            <a:spLocks/>
          </p:cNvSpPr>
          <p:nvPr/>
        </p:nvSpPr>
        <p:spPr>
          <a:xfrm>
            <a:off x="840619" y="3567804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/>
              <a:t>Детекция</a:t>
            </a:r>
            <a:r>
              <a:rPr lang="ru-RU" sz="3200" dirty="0"/>
              <a:t> синхроимпульсов и разметка видеопотока</a:t>
            </a:r>
          </a:p>
        </p:txBody>
      </p:sp>
    </p:spTree>
    <p:extLst>
      <p:ext uri="{BB962C8B-B14F-4D97-AF65-F5344CB8AC3E}">
        <p14:creationId xmlns:p14="http://schemas.microsoft.com/office/powerpoint/2010/main" val="215037694"/>
      </p:ext>
    </p:extLst>
  </p:cSld>
  <p:clrMapOvr>
    <a:masterClrMapping/>
  </p:clrMapOvr>
</p:sld>
</file>

<file path=ppt/theme/theme1.xml><?xml version="1.0" encoding="utf-8"?>
<a:theme xmlns:a="http://schemas.openxmlformats.org/drawingml/2006/main" name="1_VK New Color">
  <a:themeElements>
    <a:clrScheme name="Пользовательские 110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8024C0"/>
      </a:accent2>
      <a:accent3>
        <a:srgbClr val="FF3885"/>
      </a:accent3>
      <a:accent4>
        <a:srgbClr val="7DECF8"/>
      </a:accent4>
      <a:accent5>
        <a:srgbClr val="919191"/>
      </a:accent5>
      <a:accent6>
        <a:srgbClr val="F5F5F5"/>
      </a:accent6>
      <a:hlink>
        <a:srgbClr val="0077FF"/>
      </a:hlink>
      <a:folHlink>
        <a:srgbClr val="A538A5"/>
      </a:folHlink>
    </a:clrScheme>
    <a:fontScheme name="VK 2020">
      <a:majorFont>
        <a:latin typeface="VK Sans Display Medium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F Pro Text Light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36000" rIns="36000" bIns="3600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smtClean="0"/>
        </a:defPPr>
      </a:lstStyle>
    </a:txDef>
  </a:objectDefaults>
  <a:extraClrSchemeLst/>
  <a:custClrLst>
    <a:custClr name="VK1">
      <a:srgbClr val="397ECC"/>
    </a:custClr>
    <a:custClr name="VK2">
      <a:srgbClr val="EE5C44"/>
    </a:custClr>
    <a:custClr name="VK3">
      <a:srgbClr val="F8C246"/>
    </a:custClr>
    <a:custClr name="VK4">
      <a:srgbClr val="E6457A"/>
    </a:custClr>
    <a:custClr name="VK5">
      <a:srgbClr val="EB4250"/>
    </a:custClr>
    <a:custClr name="VK6">
      <a:srgbClr val="EE5959"/>
    </a:custClr>
    <a:custClr name="VK7">
      <a:srgbClr val="FAEBEB"/>
    </a:custClr>
    <a:custClr name="VK8">
      <a:srgbClr val="52B34B"/>
    </a:custClr>
    <a:custClr name="VK9">
      <a:srgbClr val="65DA65"/>
    </a:custClr>
    <a:custClr name="VK10">
      <a:srgbClr val="63B9BA"/>
    </a:custClr>
    <a:custClr name="VK11">
      <a:srgbClr val="7A3AC0"/>
    </a:custClr>
    <a:custClr name="VK12">
      <a:srgbClr val="A997F9"/>
    </a:custClr>
    <a:custClr name="VK13">
      <a:srgbClr val="F4E7C3"/>
    </a:custClr>
    <a:custClr name="VK14">
      <a:srgbClr val="A99670"/>
    </a:custClr>
  </a:custClrLst>
  <a:extLst>
    <a:ext uri="{05A4C25C-085E-4340-85A3-A5531E510DB2}">
      <thm15:themeFamily xmlns:thm15="http://schemas.microsoft.com/office/thememl/2012/main" name="VK New Color" id="{0F21C935-88F8-0D48-A688-F608B5B18543}" vid="{EC4E97C5-885E-3B48-9924-4E236FEFACAE}"/>
    </a:ext>
  </a:extLst>
</a:theme>
</file>

<file path=ppt/theme/theme2.xml><?xml version="1.0" encoding="utf-8"?>
<a:theme xmlns:a="http://schemas.openxmlformats.org/drawingml/2006/main" name="4_VK New Color">
  <a:themeElements>
    <a:clrScheme name="Пользовательские 110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8024C0"/>
      </a:accent2>
      <a:accent3>
        <a:srgbClr val="FF3885"/>
      </a:accent3>
      <a:accent4>
        <a:srgbClr val="7DECF8"/>
      </a:accent4>
      <a:accent5>
        <a:srgbClr val="919191"/>
      </a:accent5>
      <a:accent6>
        <a:srgbClr val="F5F5F5"/>
      </a:accent6>
      <a:hlink>
        <a:srgbClr val="0077FF"/>
      </a:hlink>
      <a:folHlink>
        <a:srgbClr val="A538A5"/>
      </a:folHlink>
    </a:clrScheme>
    <a:fontScheme name="VK 2020">
      <a:majorFont>
        <a:latin typeface="VK Sans Display Medium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F Pro Text Light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36000" rIns="36000" bIns="3600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smtClean="0"/>
        </a:defPPr>
      </a:lstStyle>
    </a:txDef>
  </a:objectDefaults>
  <a:extraClrSchemeLst/>
  <a:custClrLst>
    <a:custClr name="VK1">
      <a:srgbClr val="397ECC"/>
    </a:custClr>
    <a:custClr name="VK2">
      <a:srgbClr val="EE5C44"/>
    </a:custClr>
    <a:custClr name="VK3">
      <a:srgbClr val="F8C246"/>
    </a:custClr>
    <a:custClr name="VK4">
      <a:srgbClr val="E6457A"/>
    </a:custClr>
    <a:custClr name="VK5">
      <a:srgbClr val="EB4250"/>
    </a:custClr>
    <a:custClr name="VK6">
      <a:srgbClr val="EE5959"/>
    </a:custClr>
    <a:custClr name="VK7">
      <a:srgbClr val="FAEBEB"/>
    </a:custClr>
    <a:custClr name="VK8">
      <a:srgbClr val="52B34B"/>
    </a:custClr>
    <a:custClr name="VK9">
      <a:srgbClr val="65DA65"/>
    </a:custClr>
    <a:custClr name="VK10">
      <a:srgbClr val="63B9BA"/>
    </a:custClr>
    <a:custClr name="VK11">
      <a:srgbClr val="7A3AC0"/>
    </a:custClr>
    <a:custClr name="VK12">
      <a:srgbClr val="A997F9"/>
    </a:custClr>
    <a:custClr name="VK13">
      <a:srgbClr val="F4E7C3"/>
    </a:custClr>
    <a:custClr name="VK14">
      <a:srgbClr val="A99670"/>
    </a:custClr>
  </a:custClrLst>
  <a:extLst>
    <a:ext uri="{05A4C25C-085E-4340-85A3-A5531E510DB2}">
      <thm15:themeFamily xmlns:thm15="http://schemas.microsoft.com/office/thememl/2012/main" name="VK New Color" id="{0F21C935-88F8-0D48-A688-F608B5B18543}" vid="{EC4E97C5-885E-3B48-9924-4E236FEFACAE}"/>
    </a:ext>
  </a:extLst>
</a:theme>
</file>

<file path=ppt/theme/theme3.xml><?xml version="1.0" encoding="utf-8"?>
<a:theme xmlns:a="http://schemas.openxmlformats.org/drawingml/2006/main" name="5_VK New Color">
  <a:themeElements>
    <a:clrScheme name="Пользовательские 110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8024C0"/>
      </a:accent2>
      <a:accent3>
        <a:srgbClr val="FF3885"/>
      </a:accent3>
      <a:accent4>
        <a:srgbClr val="7DECF8"/>
      </a:accent4>
      <a:accent5>
        <a:srgbClr val="919191"/>
      </a:accent5>
      <a:accent6>
        <a:srgbClr val="F5F5F5"/>
      </a:accent6>
      <a:hlink>
        <a:srgbClr val="0077FF"/>
      </a:hlink>
      <a:folHlink>
        <a:srgbClr val="A538A5"/>
      </a:folHlink>
    </a:clrScheme>
    <a:fontScheme name="VK 2020">
      <a:majorFont>
        <a:latin typeface="VK Sans Display Medium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F Pro Text Light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36000" rIns="36000" bIns="3600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smtClean="0"/>
        </a:defPPr>
      </a:lstStyle>
    </a:txDef>
  </a:objectDefaults>
  <a:extraClrSchemeLst/>
  <a:custClrLst>
    <a:custClr name="VK1">
      <a:srgbClr val="397ECC"/>
    </a:custClr>
    <a:custClr name="VK2">
      <a:srgbClr val="EE5C44"/>
    </a:custClr>
    <a:custClr name="VK3">
      <a:srgbClr val="F8C246"/>
    </a:custClr>
    <a:custClr name="VK4">
      <a:srgbClr val="E6457A"/>
    </a:custClr>
    <a:custClr name="VK5">
      <a:srgbClr val="EB4250"/>
    </a:custClr>
    <a:custClr name="VK6">
      <a:srgbClr val="EE5959"/>
    </a:custClr>
    <a:custClr name="VK7">
      <a:srgbClr val="FAEBEB"/>
    </a:custClr>
    <a:custClr name="VK8">
      <a:srgbClr val="52B34B"/>
    </a:custClr>
    <a:custClr name="VK9">
      <a:srgbClr val="65DA65"/>
    </a:custClr>
    <a:custClr name="VK10">
      <a:srgbClr val="63B9BA"/>
    </a:custClr>
    <a:custClr name="VK11">
      <a:srgbClr val="7A3AC0"/>
    </a:custClr>
    <a:custClr name="VK12">
      <a:srgbClr val="A997F9"/>
    </a:custClr>
    <a:custClr name="VK13">
      <a:srgbClr val="F4E7C3"/>
    </a:custClr>
    <a:custClr name="VK14">
      <a:srgbClr val="A99670"/>
    </a:custClr>
  </a:custClrLst>
  <a:extLst>
    <a:ext uri="{05A4C25C-085E-4340-85A3-A5531E510DB2}">
      <thm15:themeFamily xmlns:thm15="http://schemas.microsoft.com/office/thememl/2012/main" name="VK New Color" id="{0F21C935-88F8-0D48-A688-F608B5B18543}" vid="{EC4E97C5-885E-3B48-9924-4E236FEFACAE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209</Words>
  <Application>Microsoft Office PowerPoint</Application>
  <PresentationFormat>Широкоэкранный</PresentationFormat>
  <Paragraphs>26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SF Pro Text Light</vt:lpstr>
      <vt:lpstr>VK Sans Display Medium</vt:lpstr>
      <vt:lpstr>Системный шрифт, обычный</vt:lpstr>
      <vt:lpstr>1_VK New Color</vt:lpstr>
      <vt:lpstr>4_VK New Color</vt:lpstr>
      <vt:lpstr>5_VK New Color</vt:lpstr>
      <vt:lpstr>Восстановление аналогового видеосигнала из SDR-данных</vt:lpstr>
      <vt:lpstr>FM-демодуляция</vt:lpstr>
      <vt:lpstr>Презентация PowerPoint</vt:lpstr>
      <vt:lpstr>Презентация PowerPoint</vt:lpstr>
      <vt:lpstr>Презентация PowerPoint</vt:lpstr>
      <vt:lpstr>Dc-filter</vt:lpstr>
      <vt:lpstr>Notch filter</vt:lpstr>
      <vt:lpstr>Low-pass filter</vt:lpstr>
      <vt:lpstr>Low-pass filter</vt:lpstr>
      <vt:lpstr>DC filter</vt:lpstr>
      <vt:lpstr>DC filter</vt:lpstr>
      <vt:lpstr>Нормализация</vt:lpstr>
      <vt:lpstr>Нормализация</vt:lpstr>
      <vt:lpstr>Hsync detect</vt:lpstr>
      <vt:lpstr>Попытка декодирования сигнала</vt:lpstr>
      <vt:lpstr>Восстановление аналогового видеосигнала из SDR-данных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Александра Качалкина</dc:creator>
  <cp:lastModifiedBy>kolesnikovpi2005@dnevnik.ru</cp:lastModifiedBy>
  <cp:revision>20</cp:revision>
  <dcterms:created xsi:type="dcterms:W3CDTF">2026-04-18T05:46:07Z</dcterms:created>
  <dcterms:modified xsi:type="dcterms:W3CDTF">2026-04-18T13:27:23Z</dcterms:modified>
</cp:coreProperties>
</file>